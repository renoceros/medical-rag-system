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Lato Light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LatoLigh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LatoLight-italic.fntdata"/><Relationship Id="rId23" Type="http://schemas.openxmlformats.org/officeDocument/2006/relationships/font" Target="fonts/Lato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Light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5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61269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Multi-Agent Medical RAG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8894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Deterministic Orchestration for Safe Medical AI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71500" y="3535895"/>
            <a:ext cx="6293400" cy="90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63438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 Light"/>
                <a:ea typeface="Lato Light"/>
                <a:cs typeface="Lato Light"/>
                <a:sym typeface="Lato Light"/>
              </a:rPr>
              <a:t>Technical Assessment | Role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19425"/>
            <a:ext cx="3492549" cy="3737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3019425"/>
            <a:ext cx="3492549" cy="3737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3019425"/>
            <a:ext cx="3492549" cy="373737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"Hospital Team" Approach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3336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Standard RAG is a "black box." We replaced it with a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Deterministic Orchestrator Pattern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ensure safety.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3409950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472594" y="4257675"/>
            <a:ext cx="16902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Planner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693812" y="4953000"/>
            <a:ext cx="1247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Role: Triage Nurse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5492055"/>
            <a:ext cx="2711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Routes the user. Checks for emergencies. Decides </a:t>
            </a:r>
            <a:r>
              <a:rPr b="0" i="1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who</a:t>
            </a: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handles the case. Never treats (generates text).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3409950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330904" y="4257675"/>
            <a:ext cx="15301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RAG Agent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586412" y="4953000"/>
            <a:ext cx="1019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Role: Specialist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40324" y="5492055"/>
            <a:ext cx="271149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Retrieves patient charts (Vector DB). The </a:t>
            </a:r>
            <a:r>
              <a:rPr b="0" i="1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only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agent allowed to give medical advice.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699" y="3409950"/>
            <a:ext cx="457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189213" y="4257675"/>
            <a:ext cx="1370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Evaluator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426624" y="4953000"/>
            <a:ext cx="895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Role: Auditor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18624" y="5492055"/>
            <a:ext cx="2711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Reviews the doctor's notes for accuracy and hallucinations before releasing to patient.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220592"/>
            <a:ext cx="11049000" cy="6552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&amp; Flow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047750" y="3315592"/>
            <a:ext cx="10096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00100" y="5411092"/>
            <a:ext cx="10629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Fail-Safe Mechanism: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If Confidence &lt; 40%, the answer is withheld and the system escalates to a safety disclaimer.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645167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User Query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19125" y="4058542"/>
            <a:ext cx="19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"What is Type 2 Diabetes?"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571950" y="3735442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Planner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437550" y="4078800"/>
            <a:ext cx="226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Safety Check -&gt; Route to RAG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132900" y="3735442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Retrieval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180450" y="4097405"/>
            <a:ext cx="19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FAISS Lookup (Top k=5)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400" y="3735442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Evaluator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667950" y="4097392"/>
            <a:ext cx="19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Audit Factuality -&gt; Score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546824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550" y="295319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295320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1950" y="293459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9450" y="293459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06150" y="32198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2949" y="321989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7700" y="32198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8675" y="3219892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562350"/>
            <a:ext cx="523875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RAG Agent: Specs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25908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Architecture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381750" y="301942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Grounding Prompt (Python)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31432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FAISS (IndexFlatL2) for deterministic, exact search.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9909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Embeddings: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all-MiniLM-L6-v2 (384-dim). Fast &amp; Local.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45339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Chunking: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512 tokens.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Essential for preserving full medical definitions.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53816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Temp: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0.3. Prioritizing facts over creativity.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51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2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5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4435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13757"/>
            <a:ext cx="11049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723507"/>
            <a:ext cx="5334000" cy="14305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Safety Net: Evaluator Metric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246608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We don't trust the LLM blindly. Every answer is audited.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304282"/>
            <a:ext cx="102679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418058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Weights Breakdown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286500" y="418058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Hallucination Penalty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38200" y="473303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52500" y="4733025"/>
            <a:ext cx="52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Factuality (40%):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Can every sentence be traced to a source?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38200" y="518070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518070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Retrieval (30%):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Did FAISS find relevant chunks?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8200" y="562838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52500" y="562838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Tone (10%):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Is the language cautious?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486525" y="4923532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High Risk = 50% Penalty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486525" y="5323582"/>
            <a:ext cx="4933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If the answer contains information NOT found in the source text, the score is slashed in half, triggering an automatic refusal.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99020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Observations &amp; Challenges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180600" y="1718225"/>
            <a:ext cx="5238900" cy="19296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670375" y="1718224"/>
            <a:ext cx="5238900" cy="19296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80600" y="1718225"/>
            <a:ext cx="47700" cy="1929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670375" y="1718224"/>
            <a:ext cx="47700" cy="1929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50" y="2521003"/>
            <a:ext cx="2286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885450" y="1956350"/>
            <a:ext cx="45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Subtle Hallucinations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85450" y="2535440"/>
            <a:ext cx="4295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LLMs love to "fill in the gaps." The system often adds true but ungrounded info (e.g., "Diabetes causes thirst"). Strict negative prompting was required.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6125" y="2399121"/>
            <a:ext cx="381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527625" y="1956357"/>
            <a:ext cx="43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Emergency Handling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575175" y="2364546"/>
            <a:ext cx="4219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3 LLM calls per query (Plan -&gt; RAG -&gt; Audit) = 3x Cost ($0.05/query). This is the price of medical duty of care.</a:t>
            </a: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 rotWithShape="1">
          <a:blip r:embed="rId5">
            <a:alphaModFix/>
          </a:blip>
          <a:srcRect b="19853" l="19122" r="48711" t="52772"/>
          <a:stretch/>
        </p:blipFill>
        <p:spPr>
          <a:xfrm>
            <a:off x="3149950" y="3820750"/>
            <a:ext cx="5633552" cy="269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9600" y="0"/>
            <a:ext cx="7442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1496466"/>
            <a:ext cx="5200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Interface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2658516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Built with Streamlit for transparency and trust.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2407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624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8246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857250" y="3391941"/>
            <a:ext cx="3550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Confidence Badges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57250" y="3677700"/>
            <a:ext cx="37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Green/Yellow/Red indicators show user the trust levels.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85825" y="4111972"/>
            <a:ext cx="34404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 Verification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85825" y="4397725"/>
            <a:ext cx="361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Expandable "Retrieved Sources" allow auditability.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42975" y="4832002"/>
            <a:ext cx="26103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Mandatory Disclaimers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42975" y="5117750"/>
            <a:ext cx="332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Sticky warnings for diagnostic queries.</a:t>
            </a:r>
            <a:endParaRPr/>
          </a:p>
        </p:txBody>
      </p:sp>
      <p:pic>
        <p:nvPicPr>
          <p:cNvPr id="203" name="Google Shape;203;p19"/>
          <p:cNvPicPr preferRelativeResize="0"/>
          <p:nvPr/>
        </p:nvPicPr>
        <p:blipFill rotWithShape="1">
          <a:blip r:embed="rId7">
            <a:alphaModFix/>
          </a:blip>
          <a:srcRect b="0" l="2296" r="0" t="7011"/>
          <a:stretch/>
        </p:blipFill>
        <p:spPr>
          <a:xfrm>
            <a:off x="4644050" y="177925"/>
            <a:ext cx="7348924" cy="393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55E7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Roadmap to Production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1394725"/>
            <a:ext cx="11049000" cy="18459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809625" y="163285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394725"/>
            <a:ext cx="47700" cy="18459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3431140"/>
            <a:ext cx="11049000" cy="15603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09625" y="3669265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3431140"/>
            <a:ext cx="47700" cy="15603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5181805"/>
            <a:ext cx="11049000" cy="15411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809625" y="541993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5181805"/>
            <a:ext cx="47700" cy="15411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581150" y="1632850"/>
            <a:ext cx="1029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Hybrid Retrieval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581150" y="2250040"/>
            <a:ext cx="980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Combine FAISS (Vector) with BM25 (Keyword). Vectors struggle with exact drug names (e.g., "Tylenol" vs "Acetaminophen").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581150" y="3669265"/>
            <a:ext cx="748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Inline Citations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581150" y="4286455"/>
            <a:ext cx="712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Force the model to output [Source 1] tags inline for every claim to improve auditability.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581150" y="5419930"/>
            <a:ext cx="798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74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Human-in-the-Loop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581150" y="5797800"/>
            <a:ext cx="911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We implement a review queue that automatically routes high-risk or uncertain queries to human experts, ensuring that critical medical advice is verified by a professional rather than rejected or hallucinated by the AI.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